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F368220-76FE-5248-2C8E-3EE67B4B03FA}">
          <p14:sldIdLst>
            <p14:sldId id="256"/>
          </p14:sldIdLst>
        </p14:section>
        <p14:section name="Architecture" id="{9A45C793-0A71-15BB-04A8-5E6C05C930A4}">
          <p14:sldIdLst>
            <p14:sldId id="257"/>
          </p14:sldIdLst>
        </p14:section>
        <p14:section name="How it works" id="{268AC47B-AF18-CD80-0B58-4AEC33A562FA}">
          <p14:sldIdLst>
            <p14:sldId id="258"/>
            <p14:sldId id="261"/>
          </p14:sldIdLst>
        </p14:section>
        <p14:section name="Benefits and security" id="{C1A16701-5EF3-9AA3-8433-300A9317B52D}">
          <p14:sldIdLst>
            <p14:sldId id="259"/>
          </p14:sldIdLst>
        </p14:section>
        <p14:section name="Summary" id="{CB1B8368-3898-4E16-CF2D-BC2E8CA4BB70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05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a big hotel. You show your ID once at the front desk, and they hand you a key card. After that you flash it at the gym, the restaurant and the conference room, and nobody asks for your passport again.
That is Kerberos. You authenticate once with a trusted authority called the Key Distribution Center (KDC), and it hands you tickets that open the doors you're allowed through. Your password never travels the network again.
Fun fact: the name comes from Cerberus, the three-headed dog guarding the underworld. Spoiler for the next slide: Kerberos has three heads too.
Talking points:
- Kerberos is the default authentication protocol in Active Directory.
- Passwords are never sent directly; encrypted tickets do the talking.
- It powers Single Sign-On: better experience AND better security.
- Why it exists: protect credentials, stop password interception, enable SSO, secure enterprise resources.
- Common places: Windows domain logins, file servers, SharePoint, SQL Server, enterprise apps.
Key line: "Authenticate once, access many resources securely."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three heads of our guard dog.
Head 1, the Client: your workstation, the one asking for access.
Head 2, the KDC (Key Distribution Center): the trusted authority and the heart of Kerberos. In Active Directory, your Domain Controllers play this role. It has two jobs: the Authentication Service (AS) proves who you are and hands out your Ticket Granting Ticket; the Ticket Granting Service (TGS) trades that TGT for tickets to specific services.
Head 3, the Service Server: file servers, SQL Server, SharePoint, application servers. It never talks to you about passwords; it simply trusts tickets issued by the KDC.
That trust relationship is everything. Notice the path along the bottom: the KDC doesn't walk you to the door. The client carries the ticket to the service itself.
Talking points:
- Domain Controllers act as Kerberos KDCs.
- Authentication (who are you?) and authorization (what can you reach?) are separated.
- Every component has one distinct responsibility.
- Trust relationships are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one smooth entrance.
1. Sign in: you authenticate with the KDC once.
2. Get your TGT: the Authentication Service validates you and issues a Ticket Granting Ticket, your master pass.
3. Ask for a service ticket: when you need a resource, you show the TGT to the Ticket Granting Service.
4. TGS issues the ticket: it creates a Service Ticket specific to that service.
5. Present the ticket: your client hands that ticket to the target server.
6. Access granted: the server validates it and lets you in.
Protocols involved: Kerberos (TCP/UDP 88), LDAP, DNS and Active Directory services.
Key advantage: passwords are never repeatedly transmitted across the network.
Talking points:
- TGT = master pass. Service ticket = resource access pass.
- Kerberos provides mutual authentication: you verify the server, the server verifies you.
- Time synchronization is critical.
- Tickets have expiration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D0B7-B6C1-5E75-1599-68110A63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2CEC0-6AA5-231B-38EE-5DD1931E7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F9D93-9898-CC04-2849-90C0D1CCF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one smooth entrance.
1. Sign in: you authenticate with the KDC once.
2. Get your TGT: the Authentication Service validates you and issues a Ticket Granting Ticket, your master pass.
3. Ask for a service ticket: when you need a resource, you show the TGT to the Ticket Granting Service.
4. TGS issues the ticket: it creates a Service Ticket specific to that service.
5. Present the ticket: your client hands that ticket to the target server.
6. Access granted: the server validates it and lets you in.
Protocols involved: Kerberos (TCP/UDP 88), LDAP, DNS and Active Directory services.
Key advantage: passwords are never repeatedly transmitted across the network.
Talking points:
- TGT = master pass. Service ticket = resource access pass.
- Kerberos provides mutual authentication: you verify the server, the server verifies you.
- Time synchronization is critical.
- Tickets have expiration times.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D177F-2AF3-4D18-BF9A-ECA836F11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75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organizations use Kerberos every single day without anyone noticing. Every time an employee opens a file share, a SQL database, SharePoint or an internal app, Kerberos is quietly working behind the scenes.
The good: Single Sign-On, fewer helpdesk password requests, enterprise scale, and strong security. Traffic is encrypted, tickets are short-lived, mutual authentication means both sides prove who they are, and replay protection stops captured tickets from being reused.
The bad: Pass-the-Ticket and Golden Ticket attacks, misconfigured service accounts, and time synchronization failures. A Golden Ticket attack exploits compromised high-privilege credentials, so watch for abnormal ticket activity.
The shields: patch Domain Controllers, enable MFA, protect privileged accounts, monitor ticket activity, and secure service accounts.
In the real world: financial services (employee access to banking applications), healthcare (patient records), government (identity protection across sensitive systems) and enterprise IT (Windows environments).
Talking points:
- Kerberos balances usability and security.
- SSO reduces user friction.
- Ticket protection is critical, and monitoring helps catch attacks.
- Adoption is widespread.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recap: Client asks, KDC verifies, you get a TGT, you swap it for a service ticket, and the resource lets you in.
Five takeaways: Kerberos is ticket-based. Passwords aren't repeatedly sent over the network. The KDC is the trusted authority. TGTs and service tickets make Single Sign-On work. And it is the backbone of Active Directory authentication.
Common mistakes to skip: ignoring time synchronization, weak service account security, excessive administrative privileges, no ticket monitoring, poor Domain Controller security.
Best practices to do: keep Domain Controllers secure, enable MFA and Conditional Access, monitor authentication logs, rotate service account credentials, follow least privilege.
When something breaks, think: DNS, time synchronization, ticket validity, Domain Controller health, and Service Principal Names (SPNs). Those five cause most Kerberos headaches.
Close with: "Authenticate once, access everywhere, securely."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7589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KERBEROS 101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Kerberos: Your All-Access Pass to the Network</a:t>
            </a:r>
            <a:endParaRPr lang="en-US" sz="44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743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Prove who you are once. Collect tickets. Skip the password parade.</a:t>
            </a:r>
            <a:endParaRPr lang="en-US" sz="2000" dirty="0"/>
          </a:p>
        </p:txBody>
      </p:sp>
      <p:sp>
        <p:nvSpPr>
          <p:cNvPr id="5" name="Definition"/>
          <p:cNvSpPr txBox="1"/>
          <p:nvPr/>
        </p:nvSpPr>
        <p:spPr>
          <a:xfrm>
            <a:off x="640080" y="33832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 secure, ticket-based protocol that verifies users and services without ever sending your password across the network.</a:t>
            </a:r>
            <a:endParaRPr lang="en-US" sz="1600" dirty="0"/>
          </a:p>
        </p:txBody>
      </p:sp>
      <p:sp>
        <p:nvSpPr>
          <p:cNvPr id="6" name="Dog badge"/>
          <p:cNvSpPr/>
          <p:nvPr/>
        </p:nvSpPr>
        <p:spPr>
          <a:xfrm>
            <a:off x="9144000" y="6400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erberu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1234440"/>
            <a:ext cx="1188720" cy="1188720"/>
          </a:xfrm>
          <a:prstGeom prst="rect">
            <a:avLst/>
          </a:prstGeom>
        </p:spPr>
      </p:pic>
      <p:sp>
        <p:nvSpPr>
          <p:cNvPr id="8" name="Fun fact"/>
          <p:cNvSpPr txBox="1"/>
          <p:nvPr/>
        </p:nvSpPr>
        <p:spPr>
          <a:xfrm>
            <a:off x="8686800" y="32004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Fun fact: </a:t>
            </a:r>
            <a:r>
              <a:rPr lang="en-US" sz="1400" i="1" dirty="0">
                <a:solidFill>
                  <a:schemeClr val="bg1"/>
                </a:solidFill>
              </a:rPr>
              <a:t>named after Cerberus, the three-headed guard dog of Greek myth. Three heads, one job: keep the wrong people out.</a:t>
            </a:r>
            <a:endParaRPr lang="en-US" sz="1400" dirty="0"/>
          </a:p>
        </p:txBody>
      </p:sp>
      <p:sp>
        <p:nvSpPr>
          <p:cNvPr id="9" name="Perk card 1"/>
          <p:cNvSpPr/>
          <p:nvPr/>
        </p:nvSpPr>
        <p:spPr>
          <a:xfrm>
            <a:off x="640080" y="452628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0" name="Perk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384048" cy="384048"/>
          </a:xfrm>
          <a:prstGeom prst="rect">
            <a:avLst/>
          </a:prstGeom>
        </p:spPr>
      </p:pic>
      <p:sp>
        <p:nvSpPr>
          <p:cNvPr id="11" name="Perk label 1"/>
          <p:cNvSpPr txBox="1"/>
          <p:nvPr/>
        </p:nvSpPr>
        <p:spPr>
          <a:xfrm>
            <a:off x="822960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Strong authentication</a:t>
            </a:r>
            <a:endParaRPr lang="en-US" sz="1400" dirty="0"/>
          </a:p>
        </p:txBody>
      </p:sp>
      <p:sp>
        <p:nvSpPr>
          <p:cNvPr id="12" name="Perk card 2"/>
          <p:cNvSpPr/>
          <p:nvPr/>
        </p:nvSpPr>
        <p:spPr>
          <a:xfrm>
            <a:off x="2862072" y="452628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3" name="Perk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4663440"/>
            <a:ext cx="384048" cy="384048"/>
          </a:xfrm>
          <a:prstGeom prst="rect">
            <a:avLst/>
          </a:prstGeom>
        </p:spPr>
      </p:pic>
      <p:sp>
        <p:nvSpPr>
          <p:cNvPr id="14" name="Perk label 2"/>
          <p:cNvSpPr txBox="1"/>
          <p:nvPr/>
        </p:nvSpPr>
        <p:spPr>
          <a:xfrm>
            <a:off x="3044952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Secure resource access</a:t>
            </a:r>
            <a:endParaRPr lang="en-US" sz="1400" dirty="0"/>
          </a:p>
        </p:txBody>
      </p:sp>
      <p:sp>
        <p:nvSpPr>
          <p:cNvPr id="15" name="Perk card 3"/>
          <p:cNvSpPr/>
          <p:nvPr/>
        </p:nvSpPr>
        <p:spPr>
          <a:xfrm>
            <a:off x="5084064" y="452628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6" name="Perk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4663440"/>
            <a:ext cx="384048" cy="384048"/>
          </a:xfrm>
          <a:prstGeom prst="rect">
            <a:avLst/>
          </a:prstGeom>
        </p:spPr>
      </p:pic>
      <p:sp>
        <p:nvSpPr>
          <p:cNvPr id="17" name="Perk label 3"/>
          <p:cNvSpPr txBox="1"/>
          <p:nvPr/>
        </p:nvSpPr>
        <p:spPr>
          <a:xfrm>
            <a:off x="5266944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Single Sign-On</a:t>
            </a:r>
            <a:endParaRPr lang="en-US" sz="1400" dirty="0"/>
          </a:p>
        </p:txBody>
      </p:sp>
      <p:sp>
        <p:nvSpPr>
          <p:cNvPr id="18" name="Perk card 4"/>
          <p:cNvSpPr/>
          <p:nvPr/>
        </p:nvSpPr>
        <p:spPr>
          <a:xfrm>
            <a:off x="7306056" y="452628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9" name="Perk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4663440"/>
            <a:ext cx="384048" cy="384048"/>
          </a:xfrm>
          <a:prstGeom prst="rect">
            <a:avLst/>
          </a:prstGeom>
        </p:spPr>
      </p:pic>
      <p:sp>
        <p:nvSpPr>
          <p:cNvPr id="20" name="Perk label 4"/>
          <p:cNvSpPr txBox="1"/>
          <p:nvPr/>
        </p:nvSpPr>
        <p:spPr>
          <a:xfrm>
            <a:off x="7488936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Less credential exposure</a:t>
            </a:r>
            <a:endParaRPr lang="en-US" sz="1400" dirty="0"/>
          </a:p>
        </p:txBody>
      </p:sp>
      <p:sp>
        <p:nvSpPr>
          <p:cNvPr id="21" name="Perk card 5"/>
          <p:cNvSpPr/>
          <p:nvPr/>
        </p:nvSpPr>
        <p:spPr>
          <a:xfrm>
            <a:off x="9528048" y="4526280"/>
            <a:ext cx="21031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2" name="Perk icon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28" y="4663440"/>
            <a:ext cx="384048" cy="384048"/>
          </a:xfrm>
          <a:prstGeom prst="rect">
            <a:avLst/>
          </a:prstGeom>
        </p:spPr>
      </p:pic>
      <p:sp>
        <p:nvSpPr>
          <p:cNvPr id="23" name="Perk label 5"/>
          <p:cNvSpPr txBox="1"/>
          <p:nvPr/>
        </p:nvSpPr>
        <p:spPr>
          <a:xfrm>
            <a:off x="9710928" y="5166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Native to Active Directory</a:t>
            </a:r>
            <a:endParaRPr lang="en-US" sz="1400" dirty="0"/>
          </a:p>
        </p:txBody>
      </p:sp>
      <p:sp>
        <p:nvSpPr>
          <p:cNvPr id="24" name="Use cases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You've used it at: </a:t>
            </a:r>
            <a:r>
              <a:rPr lang="en-US" sz="1400" dirty="0">
                <a:solidFill>
                  <a:schemeClr val="bg2"/>
                </a:solidFill>
              </a:rPr>
              <a:t>Windows logins  ·  File servers  ·  SharePoint  ·  SQL Server  ·  Enterprise apps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Meet the Three-Headed Guard Dog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Client, KDC, Service: three heads, three jobs, one very trusted relationship</a:t>
            </a:r>
            <a:endParaRPr lang="en-US" sz="1600" dirty="0"/>
          </a:p>
        </p:txBody>
      </p:sp>
      <p:sp>
        <p:nvSpPr>
          <p:cNvPr id="4" name="Client card"/>
          <p:cNvSpPr/>
          <p:nvPr/>
        </p:nvSpPr>
        <p:spPr>
          <a:xfrm>
            <a:off x="548640" y="2194560"/>
            <a:ext cx="2560320" cy="237744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Client badge"/>
          <p:cNvSpPr/>
          <p:nvPr/>
        </p:nvSpPr>
        <p:spPr>
          <a:xfrm>
            <a:off x="1417320" y="23774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Client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587752"/>
            <a:ext cx="402336" cy="402336"/>
          </a:xfrm>
          <a:prstGeom prst="rect">
            <a:avLst/>
          </a:prstGeom>
        </p:spPr>
      </p:pic>
      <p:sp>
        <p:nvSpPr>
          <p:cNvPr id="7" name="Client title"/>
          <p:cNvSpPr txBox="1"/>
          <p:nvPr/>
        </p:nvSpPr>
        <p:spPr>
          <a:xfrm>
            <a:off x="7315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Client</a:t>
            </a:r>
            <a:endParaRPr lang="en-US" sz="2000" dirty="0"/>
          </a:p>
        </p:txBody>
      </p:sp>
      <p:sp>
        <p:nvSpPr>
          <p:cNvPr id="8" name="Client text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Your workstation. Asks nicely for access.</a:t>
            </a:r>
            <a:endParaRPr lang="en-US" sz="1400" dirty="0"/>
          </a:p>
        </p:txBody>
      </p:sp>
      <p:sp>
        <p:nvSpPr>
          <p:cNvPr id="9" name="KDC card"/>
          <p:cNvSpPr/>
          <p:nvPr/>
        </p:nvSpPr>
        <p:spPr>
          <a:xfrm>
            <a:off x="4297680" y="1737360"/>
            <a:ext cx="3566160" cy="3383280"/>
          </a:xfrm>
          <a:prstGeom prst="roundRect">
            <a:avLst>
              <a:gd name="adj" fmla="val 4054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KDC title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KDC: Key Distribution Center</a:t>
            </a:r>
            <a:endParaRPr lang="en-US" sz="1800" dirty="0"/>
          </a:p>
        </p:txBody>
      </p:sp>
      <p:sp>
        <p:nvSpPr>
          <p:cNvPr id="11" name="KDC sub"/>
          <p:cNvSpPr txBox="1"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Lives on your Domain Controller</a:t>
            </a:r>
            <a:endParaRPr lang="en-US" sz="1400" dirty="0"/>
          </a:p>
        </p:txBody>
      </p:sp>
      <p:sp>
        <p:nvSpPr>
          <p:cNvPr id="12" name="AS card"/>
          <p:cNvSpPr/>
          <p:nvPr/>
        </p:nvSpPr>
        <p:spPr>
          <a:xfrm>
            <a:off x="4526280" y="2743200"/>
            <a:ext cx="3108960" cy="109728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/>
        </p:spPr>
      </p:sp>
      <p:sp>
        <p:nvSpPr>
          <p:cNvPr id="13" name="AS text"/>
          <p:cNvSpPr txBox="1"/>
          <p:nvPr/>
        </p:nvSpPr>
        <p:spPr>
          <a:xfrm>
            <a:off x="4663440" y="2852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 Service (AS)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Checks your ID and hands out the TGT</a:t>
            </a:r>
            <a:endParaRPr lang="en-US" sz="1400" dirty="0"/>
          </a:p>
        </p:txBody>
      </p:sp>
      <p:sp>
        <p:nvSpPr>
          <p:cNvPr id="14" name="TGS card"/>
          <p:cNvSpPr/>
          <p:nvPr/>
        </p:nvSpPr>
        <p:spPr>
          <a:xfrm>
            <a:off x="4526280" y="397764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/>
        </p:spPr>
      </p:sp>
      <p:sp>
        <p:nvSpPr>
          <p:cNvPr id="15" name="TGS text"/>
          <p:cNvSpPr txBox="1"/>
          <p:nvPr/>
        </p:nvSpPr>
        <p:spPr>
          <a:xfrm>
            <a:off x="4663440" y="40873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Ticket Granting Service (TGS)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Swaps your TGT for service tickets</a:t>
            </a:r>
            <a:endParaRPr lang="en-US" sz="1400" dirty="0"/>
          </a:p>
        </p:txBody>
      </p:sp>
      <p:sp>
        <p:nvSpPr>
          <p:cNvPr id="16" name="Server card"/>
          <p:cNvSpPr/>
          <p:nvPr/>
        </p:nvSpPr>
        <p:spPr>
          <a:xfrm>
            <a:off x="9052560" y="2194560"/>
            <a:ext cx="2560320" cy="2377440"/>
          </a:xfrm>
          <a:prstGeom prst="roundRect">
            <a:avLst>
              <a:gd name="adj" fmla="val 576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erver badge"/>
          <p:cNvSpPr/>
          <p:nvPr/>
        </p:nvSpPr>
        <p:spPr>
          <a:xfrm>
            <a:off x="9921240" y="237744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Serve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587752"/>
            <a:ext cx="402336" cy="402336"/>
          </a:xfrm>
          <a:prstGeom prst="rect">
            <a:avLst/>
          </a:prstGeom>
        </p:spPr>
      </p:pic>
      <p:sp>
        <p:nvSpPr>
          <p:cNvPr id="19" name="Server title"/>
          <p:cNvSpPr txBox="1"/>
          <p:nvPr/>
        </p:nvSpPr>
        <p:spPr>
          <a:xfrm>
            <a:off x="923544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Service Server</a:t>
            </a:r>
            <a:endParaRPr lang="en-US" sz="2000" dirty="0"/>
          </a:p>
        </p:txBody>
      </p:sp>
      <p:sp>
        <p:nvSpPr>
          <p:cNvPr id="20" name="Server text"/>
          <p:cNvSpPr txBox="1"/>
          <p:nvPr/>
        </p:nvSpPr>
        <p:spPr>
          <a:xfrm>
            <a:off x="928116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File shares, SQL, SharePoint, apps. Trusts the KDC.</a:t>
            </a:r>
            <a:endParaRPr lang="en-US" sz="1400" dirty="0"/>
          </a:p>
        </p:txBody>
      </p:sp>
      <p:sp>
        <p:nvSpPr>
          <p:cNvPr id="21" name="Arrow to KDC"/>
          <p:cNvSpPr/>
          <p:nvPr/>
        </p:nvSpPr>
        <p:spPr>
          <a:xfrm>
            <a:off x="3108960" y="2880360"/>
            <a:ext cx="118872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2" name="Arrow label 1"/>
          <p:cNvSpPr txBox="1"/>
          <p:nvPr/>
        </p:nvSpPr>
        <p:spPr>
          <a:xfrm>
            <a:off x="310896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It's me!</a:t>
            </a:r>
            <a:endParaRPr lang="en-US" sz="1200" dirty="0"/>
          </a:p>
        </p:txBody>
      </p:sp>
      <p:sp>
        <p:nvSpPr>
          <p:cNvPr id="23" name="Arrow from KDC"/>
          <p:cNvSpPr/>
          <p:nvPr/>
        </p:nvSpPr>
        <p:spPr>
          <a:xfrm flipH="1">
            <a:off x="3108960" y="3840480"/>
            <a:ext cx="118872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4" name="Arrow label 2"/>
          <p:cNvSpPr txBox="1"/>
          <p:nvPr/>
        </p:nvSpPr>
        <p:spPr>
          <a:xfrm>
            <a:off x="310896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Here are your tickets</a:t>
            </a:r>
            <a:endParaRPr lang="en-US" sz="1200" dirty="0"/>
          </a:p>
        </p:txBody>
      </p:sp>
      <p:sp>
        <p:nvSpPr>
          <p:cNvPr id="25" name="Trust line"/>
          <p:cNvSpPr/>
          <p:nvPr/>
        </p:nvSpPr>
        <p:spPr>
          <a:xfrm>
            <a:off x="7863840" y="3383280"/>
            <a:ext cx="1188720" cy="0"/>
          </a:xfrm>
          <a:prstGeom prst="line">
            <a:avLst/>
          </a:prstGeom>
          <a:noFill/>
          <a:ln w="31750">
            <a:solidFill>
              <a:srgbClr val="8A8199"/>
            </a:solidFill>
            <a:prstDash val="dash"/>
          </a:ln>
        </p:spPr>
      </p:sp>
      <p:sp>
        <p:nvSpPr>
          <p:cNvPr id="26" name="Trust label"/>
          <p:cNvSpPr txBox="1"/>
          <p:nvPr/>
        </p:nvSpPr>
        <p:spPr>
          <a:xfrm>
            <a:off x="786384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Trust</a:t>
            </a:r>
            <a:endParaRPr lang="en-US" sz="1200" dirty="0"/>
          </a:p>
        </p:txBody>
      </p:sp>
      <p:sp>
        <p:nvSpPr>
          <p:cNvPr id="27" name="Path down"/>
          <p:cNvSpPr/>
          <p:nvPr/>
        </p:nvSpPr>
        <p:spPr>
          <a:xfrm>
            <a:off x="1828800" y="4572000"/>
            <a:ext cx="0" cy="1097280"/>
          </a:xfrm>
          <a:prstGeom prst="line">
            <a:avLst/>
          </a:prstGeom>
          <a:noFill/>
          <a:ln w="38100">
            <a:solidFill>
              <a:srgbClr val="8A8199"/>
            </a:solidFill>
            <a:prstDash val="solid"/>
          </a:ln>
        </p:spPr>
      </p:sp>
      <p:sp>
        <p:nvSpPr>
          <p:cNvPr id="28" name="Path across"/>
          <p:cNvSpPr/>
          <p:nvPr/>
        </p:nvSpPr>
        <p:spPr>
          <a:xfrm>
            <a:off x="1828800" y="5669280"/>
            <a:ext cx="8503920" cy="0"/>
          </a:xfrm>
          <a:prstGeom prst="line">
            <a:avLst/>
          </a:prstGeom>
          <a:noFill/>
          <a:ln w="38100">
            <a:solidFill>
              <a:srgbClr val="8A8199"/>
            </a:solidFill>
            <a:prstDash val="solid"/>
          </a:ln>
        </p:spPr>
      </p:sp>
      <p:sp>
        <p:nvSpPr>
          <p:cNvPr id="29" name="Path up"/>
          <p:cNvSpPr/>
          <p:nvPr/>
        </p:nvSpPr>
        <p:spPr>
          <a:xfrm flipV="1">
            <a:off x="10332720" y="4572000"/>
            <a:ext cx="0" cy="1097280"/>
          </a:xfrm>
          <a:prstGeom prst="line">
            <a:avLst/>
          </a:prstGeom>
          <a:noFill/>
          <a:ln w="38100">
            <a:solidFill>
              <a:srgbClr val="8A8199"/>
            </a:solidFill>
            <a:prstDash val="solid"/>
            <a:tailEnd type="triangle"/>
          </a:ln>
        </p:spPr>
      </p:sp>
      <p:sp>
        <p:nvSpPr>
          <p:cNvPr id="30" name="Path label"/>
          <p:cNvSpPr txBox="1"/>
          <p:nvPr/>
        </p:nvSpPr>
        <p:spPr>
          <a:xfrm>
            <a:off x="1828800" y="57424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Then show the ticket to the service to get in</a:t>
            </a:r>
            <a:endParaRPr lang="en-US" sz="1400" dirty="0"/>
          </a:p>
        </p:txBody>
      </p:sp>
      <p:sp>
        <p:nvSpPr>
          <p:cNvPr id="31" name="Legend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●  </a:t>
            </a:r>
            <a:r>
              <a:rPr lang="en-US" sz="1200" dirty="0">
                <a:solidFill>
                  <a:schemeClr val="tx1"/>
                </a:solidFill>
              </a:rPr>
              <a:t>Blue = authentication     </a:t>
            </a:r>
            <a:r>
              <a:rPr lang="en-US" sz="1200" dirty="0">
                <a:solidFill>
                  <a:schemeClr val="accent3"/>
                </a:solidFill>
              </a:rPr>
              <a:t>●  </a:t>
            </a:r>
            <a:r>
              <a:rPr lang="en-US" sz="1200" dirty="0">
                <a:solidFill>
                  <a:schemeClr val="tx1"/>
                </a:solidFill>
              </a:rPr>
              <a:t>Green = ticket issuance     </a:t>
            </a:r>
            <a:r>
              <a:rPr lang="en-US" sz="1200" dirty="0">
                <a:solidFill>
                  <a:schemeClr val="accent6"/>
                </a:solidFill>
              </a:rPr>
              <a:t>●  </a:t>
            </a:r>
            <a:r>
              <a:rPr lang="en-US" sz="1200" dirty="0">
                <a:solidFill>
                  <a:schemeClr val="tx1"/>
                </a:solidFill>
              </a:rPr>
              <a:t>Gray = resource access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6 Steps from Hello to Access Granted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0876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tep badge 1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title 1"/>
          <p:cNvSpPr txBox="1"/>
          <p:nvPr/>
        </p:nvSpPr>
        <p:spPr>
          <a:xfrm>
            <a:off x="155448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 in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Show your ID at the front desk. Credentials go in once.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4297680" y="150876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tep badge 2"/>
          <p:cNvSpPr/>
          <p:nvPr/>
        </p:nvSpPr>
        <p:spPr>
          <a:xfrm>
            <a:off x="4526280" y="17373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45262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tep title 2"/>
          <p:cNvSpPr txBox="1"/>
          <p:nvPr/>
        </p:nvSpPr>
        <p:spPr>
          <a:xfrm>
            <a:off x="530352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Get your TGT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452628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AS checks you out and hands over your master wristband.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8046720" y="150876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tep badge 3"/>
          <p:cNvSpPr/>
          <p:nvPr/>
        </p:nvSpPr>
        <p:spPr>
          <a:xfrm>
            <a:off x="8275320" y="17373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Step number 3"/>
          <p:cNvSpPr txBox="1"/>
          <p:nvPr/>
        </p:nvSpPr>
        <p:spPr>
          <a:xfrm>
            <a:off x="82753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tep title 3"/>
          <p:cNvSpPr txBox="1"/>
          <p:nvPr/>
        </p:nvSpPr>
        <p:spPr>
          <a:xfrm>
            <a:off x="905256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 for a service ticket</a:t>
            </a:r>
            <a:endParaRPr lang="en-US" sz="1800" dirty="0"/>
          </a:p>
        </p:txBody>
      </p:sp>
      <p:sp>
        <p:nvSpPr>
          <p:cNvPr id="17" name="Step text 3"/>
          <p:cNvSpPr txBox="1"/>
          <p:nvPr/>
        </p:nvSpPr>
        <p:spPr>
          <a:xfrm>
            <a:off x="827532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Flash the wristband: "One gym pass, please."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548640" y="361188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tep badge 4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777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tep title 4"/>
          <p:cNvSpPr txBox="1"/>
          <p:nvPr/>
        </p:nvSpPr>
        <p:spPr>
          <a:xfrm>
            <a:off x="155448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TGS issues the ticket</a:t>
            </a:r>
            <a:endParaRPr lang="en-US" sz="1800" dirty="0"/>
          </a:p>
        </p:txBody>
      </p:sp>
      <p:sp>
        <p:nvSpPr>
          <p:cNvPr id="22" name="Step text 4"/>
          <p:cNvSpPr txBox="1"/>
          <p:nvPr/>
        </p:nvSpPr>
        <p:spPr>
          <a:xfrm>
            <a:off x="77724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pass made for that one service and nothing else.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4297680" y="361188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tep badge 5"/>
          <p:cNvSpPr/>
          <p:nvPr/>
        </p:nvSpPr>
        <p:spPr>
          <a:xfrm>
            <a:off x="4526280" y="38404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5" name="Step number 5"/>
          <p:cNvSpPr txBox="1"/>
          <p:nvPr/>
        </p:nvSpPr>
        <p:spPr>
          <a:xfrm>
            <a:off x="45262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Step title 5"/>
          <p:cNvSpPr txBox="1"/>
          <p:nvPr/>
        </p:nvSpPr>
        <p:spPr>
          <a:xfrm>
            <a:off x="530352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 the ticket</a:t>
            </a:r>
            <a:endParaRPr lang="en-US" sz="1800" dirty="0"/>
          </a:p>
        </p:txBody>
      </p:sp>
      <p:sp>
        <p:nvSpPr>
          <p:cNvPr id="27" name="Step text 5"/>
          <p:cNvSpPr txBox="1"/>
          <p:nvPr/>
        </p:nvSpPr>
        <p:spPr>
          <a:xfrm>
            <a:off x="452628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Tap it at the server's door. No password in sight.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8046720" y="3611880"/>
            <a:ext cx="3566160" cy="192024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tep badge 6"/>
          <p:cNvSpPr/>
          <p:nvPr/>
        </p:nvSpPr>
        <p:spPr>
          <a:xfrm>
            <a:off x="8275320" y="38404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0" name="Step number 6"/>
          <p:cNvSpPr txBox="1"/>
          <p:nvPr/>
        </p:nvSpPr>
        <p:spPr>
          <a:xfrm>
            <a:off x="82753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Step title 6"/>
          <p:cNvSpPr txBox="1"/>
          <p:nvPr/>
        </p:nvSpPr>
        <p:spPr>
          <a:xfrm>
            <a:off x="905256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Access granted</a:t>
            </a:r>
            <a:endParaRPr lang="en-US" sz="1800" dirty="0"/>
          </a:p>
        </p:txBody>
      </p:sp>
      <p:sp>
        <p:nvSpPr>
          <p:cNvPr id="32" name="Step text 6"/>
          <p:cNvSpPr txBox="1"/>
          <p:nvPr/>
        </p:nvSpPr>
        <p:spPr>
          <a:xfrm>
            <a:off x="827532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server validates the ticket and the door beeps green.</a:t>
            </a:r>
            <a:endParaRPr lang="en-US" sz="1400" dirty="0"/>
          </a:p>
        </p:txBody>
      </p:sp>
      <p:sp>
        <p:nvSpPr>
          <p:cNvPr id="33" name="Footer strip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4" name="Footer text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TGT = master pass.  Service ticket = one-door pass.  </a:t>
            </a:r>
            <a:r>
              <a:rPr lang="en-US" sz="1400" dirty="0">
                <a:solidFill>
                  <a:schemeClr val="bg1"/>
                </a:solidFill>
              </a:rPr>
              <a:t>Guest list: Kerberos (port 88), LDAP, DNS, AD.  Clocks must agree and tickets expire.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2EFD-EFE8-1646-FD05-8C7145F9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A3587CA5-FED3-7AD5-3D8A-F89B77CB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29" y="0"/>
            <a:ext cx="10273341" cy="684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7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Good, the Bad, and the Golden Ticket</a:t>
            </a:r>
            <a:endParaRPr lang="en-US" sz="3600" dirty="0"/>
          </a:p>
        </p:txBody>
      </p:sp>
      <p:sp>
        <p:nvSpPr>
          <p:cNvPr id="3" name="Superpowers card"/>
          <p:cNvSpPr/>
          <p:nvPr/>
        </p:nvSpPr>
        <p:spPr>
          <a:xfrm>
            <a:off x="548640" y="1417320"/>
            <a:ext cx="3566160" cy="352044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uperpowers badg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Superpow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55648"/>
            <a:ext cx="329184" cy="329184"/>
          </a:xfrm>
          <a:prstGeom prst="rect">
            <a:avLst/>
          </a:prstGeom>
        </p:spPr>
      </p:pic>
      <p:sp>
        <p:nvSpPr>
          <p:cNvPr id="6" name="Superpowers title"/>
          <p:cNvSpPr txBox="1"/>
          <p:nvPr/>
        </p:nvSpPr>
        <p:spPr>
          <a:xfrm>
            <a:off x="160020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Superpowers</a:t>
            </a:r>
            <a:endParaRPr lang="en-US" sz="2200" dirty="0"/>
          </a:p>
        </p:txBody>
      </p:sp>
      <p:sp>
        <p:nvSpPr>
          <p:cNvPr id="7" name="Superpowers list"/>
          <p:cNvSpPr txBox="1"/>
          <p:nvPr/>
        </p:nvSpPr>
        <p:spPr>
          <a:xfrm>
            <a:off x="822960" y="24688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Sign-On bliss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Fewer password-reset calls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Scales across the enterprise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Mutual authentication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Encrypted, short-lived tickets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Replay attack protection</a:t>
            </a:r>
            <a:endParaRPr lang="en-US" sz="1400" dirty="0"/>
          </a:p>
        </p:txBody>
      </p:sp>
      <p:sp>
        <p:nvSpPr>
          <p:cNvPr id="8" name="Villains card"/>
          <p:cNvSpPr/>
          <p:nvPr/>
        </p:nvSpPr>
        <p:spPr>
          <a:xfrm>
            <a:off x="4297680" y="1417320"/>
            <a:ext cx="3566160" cy="352044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Villains badge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Villain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755648"/>
            <a:ext cx="329184" cy="329184"/>
          </a:xfrm>
          <a:prstGeom prst="rect">
            <a:avLst/>
          </a:prstGeom>
        </p:spPr>
      </p:pic>
      <p:sp>
        <p:nvSpPr>
          <p:cNvPr id="11" name="Villains title"/>
          <p:cNvSpPr txBox="1"/>
          <p:nvPr/>
        </p:nvSpPr>
        <p:spPr>
          <a:xfrm>
            <a:off x="534924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Villains</a:t>
            </a:r>
            <a:endParaRPr lang="en-US" sz="2200" dirty="0"/>
          </a:p>
        </p:txBody>
      </p:sp>
      <p:sp>
        <p:nvSpPr>
          <p:cNvPr id="12" name="Villains list"/>
          <p:cNvSpPr txBox="1"/>
          <p:nvPr/>
        </p:nvSpPr>
        <p:spPr>
          <a:xfrm>
            <a:off x="4572000" y="24688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Pass-the-Ticket attacks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Golden Ticket attacks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Sloppy service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Clock drift breaks auth</a:t>
            </a:r>
            <a:endParaRPr lang="en-US" sz="1400" dirty="0"/>
          </a:p>
        </p:txBody>
      </p:sp>
      <p:sp>
        <p:nvSpPr>
          <p:cNvPr id="13" name="Shields Up card"/>
          <p:cNvSpPr/>
          <p:nvPr/>
        </p:nvSpPr>
        <p:spPr>
          <a:xfrm>
            <a:off x="8046720" y="1417320"/>
            <a:ext cx="3566160" cy="3520440"/>
          </a:xfrm>
          <a:prstGeom prst="roundRect">
            <a:avLst>
              <a:gd name="adj" fmla="val 389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ields Up badge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hields Up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755648"/>
            <a:ext cx="329184" cy="329184"/>
          </a:xfrm>
          <a:prstGeom prst="rect">
            <a:avLst/>
          </a:prstGeom>
        </p:spPr>
      </p:pic>
      <p:sp>
        <p:nvSpPr>
          <p:cNvPr id="16" name="Shields Up title"/>
          <p:cNvSpPr txBox="1"/>
          <p:nvPr/>
        </p:nvSpPr>
        <p:spPr>
          <a:xfrm>
            <a:off x="909828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Shields Up</a:t>
            </a:r>
            <a:endParaRPr lang="en-US" sz="2200" dirty="0"/>
          </a:p>
        </p:txBody>
      </p:sp>
      <p:sp>
        <p:nvSpPr>
          <p:cNvPr id="17" name="Shields Up list"/>
          <p:cNvSpPr txBox="1"/>
          <p:nvPr/>
        </p:nvSpPr>
        <p:spPr>
          <a:xfrm>
            <a:off x="8321040" y="24688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Patch Domain Controllers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Enable MFA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Protect privileged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ticket activity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Secure service accounts</a:t>
            </a:r>
            <a:endParaRPr lang="en-US" sz="1400" dirty="0"/>
          </a:p>
        </p:txBody>
      </p:sp>
      <p:sp>
        <p:nvSpPr>
          <p:cNvPr id="18" name="Use case card 1"/>
          <p:cNvSpPr/>
          <p:nvPr/>
        </p:nvSpPr>
        <p:spPr>
          <a:xfrm>
            <a:off x="548640" y="516636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19" name="Use case icon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440680"/>
            <a:ext cx="457200" cy="457200"/>
          </a:xfrm>
          <a:prstGeom prst="rect">
            <a:avLst/>
          </a:prstGeom>
        </p:spPr>
      </p:pic>
      <p:sp>
        <p:nvSpPr>
          <p:cNvPr id="20" name="Use case text 1"/>
          <p:cNvSpPr txBox="1"/>
          <p:nvPr/>
        </p:nvSpPr>
        <p:spPr>
          <a:xfrm>
            <a:off x="1325880" y="53035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Financial services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Banking app access</a:t>
            </a:r>
            <a:endParaRPr lang="en-US" sz="1500" dirty="0"/>
          </a:p>
        </p:txBody>
      </p:sp>
      <p:sp>
        <p:nvSpPr>
          <p:cNvPr id="21" name="Use case card 2"/>
          <p:cNvSpPr/>
          <p:nvPr/>
        </p:nvSpPr>
        <p:spPr>
          <a:xfrm>
            <a:off x="3346704" y="516636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22" name="Use case icon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5440680"/>
            <a:ext cx="457200" cy="457200"/>
          </a:xfrm>
          <a:prstGeom prst="rect">
            <a:avLst/>
          </a:prstGeom>
        </p:spPr>
      </p:pic>
      <p:sp>
        <p:nvSpPr>
          <p:cNvPr id="23" name="Use case text 2"/>
          <p:cNvSpPr txBox="1"/>
          <p:nvPr/>
        </p:nvSpPr>
        <p:spPr>
          <a:xfrm>
            <a:off x="4123944" y="53035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Healthcare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Patient records</a:t>
            </a:r>
            <a:endParaRPr lang="en-US" sz="1500" dirty="0"/>
          </a:p>
        </p:txBody>
      </p:sp>
      <p:sp>
        <p:nvSpPr>
          <p:cNvPr id="24" name="Use case card 3"/>
          <p:cNvSpPr/>
          <p:nvPr/>
        </p:nvSpPr>
        <p:spPr>
          <a:xfrm>
            <a:off x="6144768" y="516636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25" name="Use case icon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5440680"/>
            <a:ext cx="457200" cy="457200"/>
          </a:xfrm>
          <a:prstGeom prst="rect">
            <a:avLst/>
          </a:prstGeom>
        </p:spPr>
      </p:pic>
      <p:sp>
        <p:nvSpPr>
          <p:cNvPr id="26" name="Use case text 3"/>
          <p:cNvSpPr txBox="1"/>
          <p:nvPr/>
        </p:nvSpPr>
        <p:spPr>
          <a:xfrm>
            <a:off x="6922008" y="53035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Government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Identity across sensitive systems</a:t>
            </a:r>
            <a:endParaRPr lang="en-US" sz="1500" dirty="0"/>
          </a:p>
        </p:txBody>
      </p:sp>
      <p:sp>
        <p:nvSpPr>
          <p:cNvPr id="27" name="Use case card 4"/>
          <p:cNvSpPr/>
          <p:nvPr/>
        </p:nvSpPr>
        <p:spPr>
          <a:xfrm>
            <a:off x="8942832" y="5166360"/>
            <a:ext cx="2651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28" name="Use case icon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5712" y="5440680"/>
            <a:ext cx="457200" cy="457200"/>
          </a:xfrm>
          <a:prstGeom prst="rect">
            <a:avLst/>
          </a:prstGeom>
        </p:spPr>
      </p:pic>
      <p:sp>
        <p:nvSpPr>
          <p:cNvPr id="29" name="Use case text 4"/>
          <p:cNvSpPr txBox="1"/>
          <p:nvPr/>
        </p:nvSpPr>
        <p:spPr>
          <a:xfrm>
            <a:off x="9720072" y="53035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Enterprise IT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Windows environments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5 Things to Remember</a:t>
            </a:r>
            <a:endParaRPr lang="en-US" sz="3600" dirty="0"/>
          </a:p>
        </p:txBody>
      </p:sp>
      <p:sp>
        <p:nvSpPr>
          <p:cNvPr id="3" name="Key badge 1"/>
          <p:cNvSpPr/>
          <p:nvPr/>
        </p:nvSpPr>
        <p:spPr>
          <a:xfrm>
            <a:off x="548640" y="146304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Key number 1"/>
          <p:cNvSpPr txBox="1"/>
          <p:nvPr/>
        </p:nvSpPr>
        <p:spPr>
          <a:xfrm>
            <a:off x="54864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Key text 1"/>
          <p:cNvSpPr txBox="1"/>
          <p:nvPr/>
        </p:nvSpPr>
        <p:spPr>
          <a:xfrm>
            <a:off x="1188720" y="1463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Kerberos is ticket-based authentication</a:t>
            </a:r>
            <a:endParaRPr lang="en-US" sz="1800" dirty="0"/>
          </a:p>
        </p:txBody>
      </p:sp>
      <p:sp>
        <p:nvSpPr>
          <p:cNvPr id="6" name="Key badge 2"/>
          <p:cNvSpPr/>
          <p:nvPr/>
        </p:nvSpPr>
        <p:spPr>
          <a:xfrm>
            <a:off x="548640" y="21031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Key number 2"/>
          <p:cNvSpPr txBox="1"/>
          <p:nvPr/>
        </p:nvSpPr>
        <p:spPr>
          <a:xfrm>
            <a:off x="5486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Key text 2"/>
          <p:cNvSpPr txBox="1"/>
          <p:nvPr/>
        </p:nvSpPr>
        <p:spPr>
          <a:xfrm>
            <a:off x="1188720" y="21031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Passwords don't keep traveling the network</a:t>
            </a:r>
            <a:endParaRPr lang="en-US" sz="1800" dirty="0"/>
          </a:p>
        </p:txBody>
      </p:sp>
      <p:sp>
        <p:nvSpPr>
          <p:cNvPr id="9" name="Key badge 3"/>
          <p:cNvSpPr/>
          <p:nvPr/>
        </p:nvSpPr>
        <p:spPr>
          <a:xfrm>
            <a:off x="548640" y="27432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 number 3"/>
          <p:cNvSpPr txBox="1"/>
          <p:nvPr/>
        </p:nvSpPr>
        <p:spPr>
          <a:xfrm>
            <a:off x="54864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Key text 3"/>
          <p:cNvSpPr txBox="1"/>
          <p:nvPr/>
        </p:nvSpPr>
        <p:spPr>
          <a:xfrm>
            <a:off x="1188720" y="274320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KDC is the trusted authority</a:t>
            </a:r>
            <a:endParaRPr lang="en-US" sz="1800" dirty="0"/>
          </a:p>
        </p:txBody>
      </p:sp>
      <p:sp>
        <p:nvSpPr>
          <p:cNvPr id="12" name="Key badge 4"/>
          <p:cNvSpPr/>
          <p:nvPr/>
        </p:nvSpPr>
        <p:spPr>
          <a:xfrm>
            <a:off x="548640" y="33832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Key number 4"/>
          <p:cNvSpPr txBox="1"/>
          <p:nvPr/>
        </p:nvSpPr>
        <p:spPr>
          <a:xfrm>
            <a:off x="54864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Key text 4"/>
          <p:cNvSpPr txBox="1"/>
          <p:nvPr/>
        </p:nvSpPr>
        <p:spPr>
          <a:xfrm>
            <a:off x="1188720" y="33832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TGT + service tickets = Single Sign-On</a:t>
            </a:r>
            <a:endParaRPr lang="en-US" sz="1800" dirty="0"/>
          </a:p>
        </p:txBody>
      </p:sp>
      <p:sp>
        <p:nvSpPr>
          <p:cNvPr id="15" name="Key badge 5"/>
          <p:cNvSpPr/>
          <p:nvPr/>
        </p:nvSpPr>
        <p:spPr>
          <a:xfrm>
            <a:off x="548640" y="40233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Key number 5"/>
          <p:cNvSpPr txBox="1"/>
          <p:nvPr/>
        </p:nvSpPr>
        <p:spPr>
          <a:xfrm>
            <a:off x="54864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Key text 5"/>
          <p:cNvSpPr txBox="1"/>
          <p:nvPr/>
        </p:nvSpPr>
        <p:spPr>
          <a:xfrm>
            <a:off x="1188720" y="402336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It's the backbone of Active Directory auth</a:t>
            </a:r>
            <a:endParaRPr lang="en-US" sz="1800" dirty="0"/>
          </a:p>
        </p:txBody>
      </p:sp>
      <p:sp>
        <p:nvSpPr>
          <p:cNvPr id="18" name="Troubleshoot card"/>
          <p:cNvSpPr/>
          <p:nvPr/>
        </p:nvSpPr>
        <p:spPr>
          <a:xfrm>
            <a:off x="548640" y="4754880"/>
            <a:ext cx="658368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9" name="Troubleshoot title"/>
          <p:cNvSpPr txBox="1"/>
          <p:nvPr/>
        </p:nvSpPr>
        <p:spPr>
          <a:xfrm>
            <a:off x="777240" y="48646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Kerberos acting up? Check the usual suspects</a:t>
            </a:r>
            <a:endParaRPr lang="en-US" sz="1500" dirty="0"/>
          </a:p>
        </p:txBody>
      </p:sp>
      <p:sp>
        <p:nvSpPr>
          <p:cNvPr id="20" name="Suspect chip 1"/>
          <p:cNvSpPr/>
          <p:nvPr/>
        </p:nvSpPr>
        <p:spPr>
          <a:xfrm>
            <a:off x="777240" y="5349240"/>
            <a:ext cx="8686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1" name="Suspect text 1"/>
          <p:cNvSpPr txBox="1"/>
          <p:nvPr/>
        </p:nvSpPr>
        <p:spPr>
          <a:xfrm>
            <a:off x="777240" y="53492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DNS</a:t>
            </a:r>
            <a:endParaRPr lang="en-US" sz="1400" dirty="0"/>
          </a:p>
        </p:txBody>
      </p:sp>
      <p:sp>
        <p:nvSpPr>
          <p:cNvPr id="22" name="Suspect chip 2"/>
          <p:cNvSpPr/>
          <p:nvPr/>
        </p:nvSpPr>
        <p:spPr>
          <a:xfrm>
            <a:off x="1755648" y="5349240"/>
            <a:ext cx="1234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3" name="Suspect text 2"/>
          <p:cNvSpPr txBox="1"/>
          <p:nvPr/>
        </p:nvSpPr>
        <p:spPr>
          <a:xfrm>
            <a:off x="1755648" y="5349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Time sync</a:t>
            </a:r>
            <a:endParaRPr lang="en-US" sz="1400" dirty="0"/>
          </a:p>
        </p:txBody>
      </p:sp>
      <p:sp>
        <p:nvSpPr>
          <p:cNvPr id="24" name="Suspect chip 3"/>
          <p:cNvSpPr/>
          <p:nvPr/>
        </p:nvSpPr>
        <p:spPr>
          <a:xfrm>
            <a:off x="3099816" y="5349240"/>
            <a:ext cx="15544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5" name="Suspect text 3"/>
          <p:cNvSpPr txBox="1"/>
          <p:nvPr/>
        </p:nvSpPr>
        <p:spPr>
          <a:xfrm>
            <a:off x="3099816" y="5349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Ticket validity</a:t>
            </a:r>
            <a:endParaRPr lang="en-US" sz="1400" dirty="0"/>
          </a:p>
        </p:txBody>
      </p:sp>
      <p:sp>
        <p:nvSpPr>
          <p:cNvPr id="26" name="Suspect chip 4"/>
          <p:cNvSpPr/>
          <p:nvPr/>
        </p:nvSpPr>
        <p:spPr>
          <a:xfrm>
            <a:off x="4764024" y="5349240"/>
            <a:ext cx="12344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7" name="Suspect text 4"/>
          <p:cNvSpPr txBox="1"/>
          <p:nvPr/>
        </p:nvSpPr>
        <p:spPr>
          <a:xfrm>
            <a:off x="4764024" y="5349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DC health</a:t>
            </a:r>
            <a:endParaRPr lang="en-US" sz="1400" dirty="0"/>
          </a:p>
        </p:txBody>
      </p:sp>
      <p:sp>
        <p:nvSpPr>
          <p:cNvPr id="28" name="Suspect chip 5"/>
          <p:cNvSpPr/>
          <p:nvPr/>
        </p:nvSpPr>
        <p:spPr>
          <a:xfrm>
            <a:off x="6108192" y="5349240"/>
            <a:ext cx="8686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29" name="Suspect text 5"/>
          <p:cNvSpPr txBox="1"/>
          <p:nvPr/>
        </p:nvSpPr>
        <p:spPr>
          <a:xfrm>
            <a:off x="6108192" y="53492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SPNs</a:t>
            </a:r>
            <a:endParaRPr lang="en-US" sz="1400" dirty="0"/>
          </a:p>
        </p:txBody>
      </p:sp>
      <p:sp>
        <p:nvSpPr>
          <p:cNvPr id="30" name="Skip these card"/>
          <p:cNvSpPr/>
          <p:nvPr/>
        </p:nvSpPr>
        <p:spPr>
          <a:xfrm>
            <a:off x="7498080" y="1463040"/>
            <a:ext cx="411480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31" name="Skip these title"/>
          <p:cNvSpPr txBox="1"/>
          <p:nvPr/>
        </p:nvSpPr>
        <p:spPr>
          <a:xfrm>
            <a:off x="772668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Skip these</a:t>
            </a:r>
            <a:endParaRPr lang="en-US" sz="1800" dirty="0"/>
          </a:p>
        </p:txBody>
      </p:sp>
      <p:sp>
        <p:nvSpPr>
          <p:cNvPr id="32" name="Skip these list"/>
          <p:cNvSpPr txBox="1"/>
          <p:nvPr/>
        </p:nvSpPr>
        <p:spPr>
          <a:xfrm>
            <a:off x="7726680" y="20116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Ignoring time sync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Weak service accounts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Excess admin privileges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ticket monitoring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Weak DC security</a:t>
            </a:r>
            <a:endParaRPr lang="en-US" sz="1400" dirty="0"/>
          </a:p>
        </p:txBody>
      </p:sp>
      <p:sp>
        <p:nvSpPr>
          <p:cNvPr id="33" name="Do these card"/>
          <p:cNvSpPr/>
          <p:nvPr/>
        </p:nvSpPr>
        <p:spPr>
          <a:xfrm>
            <a:off x="7498080" y="3794760"/>
            <a:ext cx="411480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34" name="Do these title"/>
          <p:cNvSpPr txBox="1"/>
          <p:nvPr/>
        </p:nvSpPr>
        <p:spPr>
          <a:xfrm>
            <a:off x="772668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Do these</a:t>
            </a:r>
            <a:endParaRPr lang="en-US" sz="1800" dirty="0"/>
          </a:p>
        </p:txBody>
      </p:sp>
      <p:sp>
        <p:nvSpPr>
          <p:cNvPr id="35" name="Do these list"/>
          <p:cNvSpPr txBox="1"/>
          <p:nvPr/>
        </p:nvSpPr>
        <p:spPr>
          <a:xfrm>
            <a:off x="7726680" y="4343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Keep Domain Controllers secure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MFA + Conditional Access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Monitor authentication logs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Rotate service credentials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Follow least privilege</a:t>
            </a:r>
            <a:endParaRPr lang="en-US" sz="1400" dirty="0"/>
          </a:p>
        </p:txBody>
      </p:sp>
      <p:sp>
        <p:nvSpPr>
          <p:cNvPr id="36" name="Closing line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Authenticate once. Access everywhere. Securely.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rberos Fun">
  <a:themeElements>
    <a:clrScheme name="Kerberos Fun">
      <a:dk1>
        <a:srgbClr val="1B1030"/>
      </a:dk1>
      <a:lt1>
        <a:srgbClr val="FFFFFF"/>
      </a:lt1>
      <a:dk2>
        <a:srgbClr val="2D1B5E"/>
      </a:dk2>
      <a:lt2>
        <a:srgbClr val="F3EEFB"/>
      </a:lt2>
      <a:accent1>
        <a:srgbClr val="FFB400"/>
      </a:accent1>
      <a:accent2>
        <a:srgbClr val="7C4DFF"/>
      </a:accent2>
      <a:accent3>
        <a:srgbClr val="2EC4B6"/>
      </a:accent3>
      <a:accent4>
        <a:srgbClr val="FF5A5F"/>
      </a:accent4>
      <a:accent5>
        <a:srgbClr val="4DA3FF"/>
      </a:accent5>
      <a:accent6>
        <a:srgbClr val="8A8199"/>
      </a:accent6>
      <a:hlink>
        <a:srgbClr val="7C4DFF"/>
      </a:hlink>
      <a:folHlink>
        <a:srgbClr val="8A8199"/>
      </a:folHlink>
    </a:clrScheme>
    <a:fontScheme name="Kerberos Fu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1778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Kerberos Fun</vt:lpstr>
      <vt:lpstr>Kerberos: Your All-Access Pass to the Network</vt:lpstr>
      <vt:lpstr>Meet the Three-Headed Guard Dog</vt:lpstr>
      <vt:lpstr>6 Steps from Hello to Access Granted</vt:lpstr>
      <vt:lpstr>PowerPoint Presentation</vt:lpstr>
      <vt:lpstr>The Good, the Bad, and the Golden Ticket</vt:lpstr>
      <vt:lpstr>5 Things to Remember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Kerberos Authentication</dc:title>
  <dc:subject>PptxGenJS Presentation</dc:subject>
  <dc:creator>PptxGenJS;elijah Aremu</dc:creator>
  <cp:lastModifiedBy>Elijah Aremu</cp:lastModifiedBy>
  <cp:revision>3</cp:revision>
  <dcterms:created xsi:type="dcterms:W3CDTF">2026-10-06T08:10:33Z</dcterms:created>
  <dcterms:modified xsi:type="dcterms:W3CDTF">2026-10-06T14:38:10Z</dcterms:modified>
</cp:coreProperties>
</file>